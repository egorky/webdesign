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01168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Transformación Digital</a:t>
            </a:r>
            <a:br/>
            <a:r>
              <a:t>y Soporte Inteligente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8404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ABC9C"/>
                </a:solidFill>
              </a:defRPr>
            </a:pPr>
            <a:r>
              <a:t>Soluciones de IT que impulsan su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029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600">
                <a:solidFill>
                  <a:srgbClr val="FFFFFF"/>
                </a:solidFill>
              </a:rPr>
              <a:t>Sempi</a:t>
            </a:r>
            <a:r>
              <a:rPr b="1" sz="2600">
                <a:solidFill>
                  <a:srgbClr val="1ABC9C"/>
                </a:solidFill>
              </a:rPr>
              <a:t>tecno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Sobre Nosotros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Más de 20 años de experiencia en el mercado.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Entregamos el código fuente de soluciones tipo open-source.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Capacitación exhaustiva a su equipo.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Asociación transparente en su crecimiento tecnológico.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828800"/>
            <a:ext cx="4572000" cy="320040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400" b="1">
                <a:solidFill>
                  <a:srgbClr val="1ABC9C"/>
                </a:solidFill>
              </a:defRPr>
            </a:pPr>
            <a:r>
              <a:t>20+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años impulsando</a:t>
            </a:r>
            <a:br/>
            <a:r>
              <a:t>infraestructura y soporte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Clientes que confían en nosotros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Empresas líderes que respaldan la calidad de nuestras soluciones.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Telefónica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1031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Fybeca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1031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Veris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4747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Pycca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4747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Médikal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474720"/>
            <a:ext cx="3291840" cy="109728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B2545"/>
                </a:solidFill>
              </a:defRPr>
            </a:pPr>
            <a:r>
              <a:t>Bankers Club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ABC9C"/>
                </a:solidFill>
              </a:defRPr>
            </a:pPr>
            <a:r>
              <a:t>Sección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Plataformas Robustas de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Control, Privacidad y Estabilidad Operativa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Zabbix: Monitoreo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El guardián de su 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Monitorea servidores, switches, impresoras y UPS.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Detecta anomalías antes de que afecten a los usuarios.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Notifica incidentes en tiempo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Zabbix: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Autorrecuperación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Reinicio automático de servicios críticos sin intervención humana.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Bases de Datos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Monitoreo profundo del rendimiento para respuestas rápidas.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Dispositivos Físicos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IoT, antenas y cámaras bajo control de disponibilidad.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GLPI: Gestión de Activos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Control total de lo que tiene</a:t>
            </a:r>
          </a:p>
        </p:txBody>
      </p:sp>
      <p:pic>
        <p:nvPicPr>
          <p:cNvPr id="6" name="Picture 5" descr="gl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1828800"/>
            <a:ext cx="911087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Inventario automático de hardware y software.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Licencias, contratos y garantías.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Proveedores y ciclo de vida del equipo.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GLPI: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l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1417320"/>
            <a:ext cx="911087" cy="502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14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Proyectos IT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Organización y seguimiento de inicio a cierre.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62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562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22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Reportes Financieros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Auditorías, depreciación y presupuestos.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610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7610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470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Mesa de Ayuda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Incidencias vinculadas a activos afectados.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OTOBO: Mesa de Servicio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Atención estructurada y eficiente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Workflows totalmente personalizados.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Certificado en mejores prácticas ITIL.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Correos transformados automáticamente en tickets.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OTOBO: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Seguimiento Veloz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SLA visibles en tiempo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Búsquedas Avanzadas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Historial de soluciones para evitar retrabajo.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Base de Conocimientos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Portal FAQ de autoservicio.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Issabel: Telefonía IP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Comunicaciones sin límites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Sin costo de licencias por usuario.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Extensiones telefónicas ilimitadas.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IVR y operadora automática incluidos.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Issabel: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Grabación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Auditoría y control de calidad de llamadas.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Grupos de Marcado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Distribución por departamento.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Voz a Medida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Menús, buzones a correo y conferencias.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ABC9C"/>
                </a:solidFill>
              </a:defRPr>
            </a:pPr>
            <a:r>
              <a:t>Sección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Automatización con IA y Soporte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4A3B8"/>
                </a:solidFill>
              </a:defRPr>
            </a:pPr>
            <a:r>
              <a:t>Ingenieros de soporte L1 y L2 disponibles 24/7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Agentes de IA como Ingenieros de Soporte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Ingenieros digitales L1 y L2 integrados a su stack — no bots de respuestas fijas.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Ingenieros digitales L1 y L2 integrados a su stack — no bots de respuestas fijas.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965960"/>
            <a:ext cx="4572000" cy="59436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Nivel 3 — Especialistas humanos (cambios críticos)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24047" y="2679192"/>
            <a:ext cx="594360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Nivel 2 — Agente IA: diagnóstico, scripts, correlación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8247" y="3392424"/>
            <a:ext cx="7315200" cy="5943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Nivel 1 — Agente IA: triaje y resolución rutinaria 24/7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005840" cy="347472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NIVEL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Ingeniero de Soporte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Primera línea digital: disponible 24/7 sin colas de espera.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Atiende como analista de mesa: saluda, clasifica y prioriza.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Resuelve rutina: contraseñas, VPN, impresoras, accesos.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Consulta base de conocimiento (OTOBO/GLPI) paso a paso.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Crea tickets con categoría, activo y pasos ya ejecutados.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Deriva a L2 solo si detecta complejidad o falta de permisos.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005840" cy="3474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NIVEL L2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Ingeniero de Soporte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Segunda línea digital: diagnóstico técnico y remediación controlada.</a:t>
            </a:r>
          </a:p>
        </p:txBody>
      </p:sp>
      <p:pic>
        <p:nvPicPr>
          <p:cNvPr id="7" name="Picture 6" descr="gl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1828800"/>
            <a:ext cx="911087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Se conecta a Zabbix: correlaciona alertas y tendencias.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Ejecuta comandos autorizados (SSH/PowerShell/API).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Aplica runbooks: reinicios, colas, verificación de backups.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Enriquece tickets en GLPI/OTOBO con evidencia y causa raíz sugerida.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Escala a L3 con timeline, comandos e impacto documentado.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L1 vs L2: Roles del Ingeniero IA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Dimensión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IA Nivel 1</a:t>
                      </a:r>
                    </a:p>
                  </a:txBody>
                  <a:tcPr>
                    <a:solidFill>
                      <a:srgbClr val="1ABC9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IA Nivel 2</a:t>
                      </a:r>
                    </a:p>
                  </a:txBody>
                  <a:tcPr>
                    <a:solidFill>
                      <a:srgbClr val="F59E0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545"/>
                          </a:solidFill>
                        </a:defRPr>
                      </a:pPr>
                      <a:r>
                        <a:t>Objetivo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Desvío de volumen y autoservicio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Diagnóstico y remediación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545"/>
                          </a:solidFill>
                        </a:defRPr>
                      </a:pPr>
                      <a:r>
                        <a:t>Usuario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Colaborador / cliente final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TI interna / operaciones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545"/>
                          </a:solidFill>
                        </a:defRPr>
                      </a:pPr>
                      <a:r>
                        <a:t>Acciones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Guías, FAQs, tickets simples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Scripts, APIs, runbooks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545"/>
                          </a:solidFill>
                        </a:defRPr>
                      </a:pPr>
                      <a:r>
                        <a:t>Integraciones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OTOBO, chat, correo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Zabbix, GLPI, servidores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B2545"/>
                          </a:solidFill>
                        </a:defRPr>
                      </a:pPr>
                      <a:r>
                        <a:t>Escalamiento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→ L2 IA o humano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4B5563"/>
                          </a:solidFill>
                        </a:defRPr>
                      </a:pPr>
                      <a:r>
                        <a:t>→ L3 especialista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Flujo: del usuario al especialista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Trazabilidad completa en cada escalamiento.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867" y="2148840"/>
            <a:ext cx="2468880" cy="960120"/>
          </a:xfrm>
          <a:prstGeom prst="round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Usuario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55467" y="2441448"/>
            <a:ext cx="32004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1227" y="2148840"/>
            <a:ext cx="2468880" cy="96012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IA L1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35827" y="2441448"/>
            <a:ext cx="32004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1587" y="2148840"/>
            <a:ext cx="2468880" cy="9601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IA 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16187" y="2441448"/>
            <a:ext cx="32004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81947" y="2148840"/>
            <a:ext cx="2468880" cy="9601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Humano 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204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Registro en OTOBO/GLPI con historial y evidencia.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Supervisores auditan decisiones del agente IA.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Cada cierre alimenta la base de conocimiento.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Agente Técnico: Integración Avanzada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l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1417320"/>
            <a:ext cx="911087" cy="502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14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Diagnóstico preventivo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Consulta Zabbix antes del reporte humano.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562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3562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22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Ejecución controlada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SSH/PowerShell con políticas y auditoría.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6107" y="233172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76107" y="233172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4707" y="265176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Escalamiento inteligente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Tickets enriquecidos en GLPI/OTOBO.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Chatbots para WhatsApp y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B5563"/>
                </a:solidFill>
              </a:defRPr>
            </a:pPr>
            <a:r>
              <a:t>Atención inmediata en canales favoritos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Integración nativa con WhatsApp, Web y redes sociales.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Conexión directa a CRM o ERP corporativo.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Botones interactivos y listas rápidas.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Chatbots: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Venta automatizada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Catálogos y pedidos desde el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Encuestas NPS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Satisfacción post-atención automática.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Servicios internos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Vacaciones, roles de pago, reseteo de claves.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Agente Virtual Cognitivo de Voz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Voz humana realista, sin tonos robóticos.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Entiende contexto conversacional fluido.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Analiza y responde en tiempo real.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Voice Bots: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Agendamiento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Citas médicas, mecánicas o de asesoría.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Llamadas salientes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Recordatorios y confirmaciones.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Encuestas telefónicas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Sondeos conversacionales de calidad.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Chat Multiagente y Multicanal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Un buzón para WhatsApp, Telegram, Messenger y correo.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Múltiples agentes en el mismo número.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Supervisión, auditoría y asignación de chats.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Multicanalidad: Casos de 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Atención masiva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Cientos de clientes sin mezclar historiales.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Soporte organizado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Transferencia L1→L2 con contexto intacto.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Métricas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Tiempos de respuesta por canal y agente.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Beneficios para su Empresa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514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514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Downtime reducido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Monitoreo proactivo y alertas tempranas.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562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22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Resolución instantánea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IA L1/L2 atiende rutina y acorta MTTR.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76107" y="2011680"/>
            <a:ext cx="3520440" cy="3291840"/>
          </a:xfrm>
          <a:prstGeom prst="roundRect">
            <a:avLst/>
          </a:prstGeom>
          <a:solidFill>
            <a:srgbClr val="F3F4F6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6107" y="2011680"/>
            <a:ext cx="3520440" cy="64008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04707" y="23317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0B2545"/>
                </a:solidFill>
              </a:defRPr>
            </a:pPr>
            <a:r>
              <a:t>Talento liberado</a:t>
            </a:r>
          </a:p>
          <a:p>
            <a:pPr>
              <a:defRPr sz="1300">
                <a:solidFill>
                  <a:srgbClr val="4B5563"/>
                </a:solidFill>
              </a:defRPr>
            </a:pPr>
            <a:r>
              <a:t>Humanos en innovación, no en reseteos.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418320" y="256032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>
                <a:solidFill>
                  <a:srgbClr val="0B2545"/>
                </a:solidFill>
              </a:rPr>
              <a:t>Sempi</a:t>
            </a:r>
            <a:r>
              <a:rPr b="1" sz="1600">
                <a:solidFill>
                  <a:srgbClr val="1ABC9C"/>
                </a:solidFill>
              </a:rPr>
              <a:t>tecno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B2545"/>
                </a:solidFill>
              </a:defRPr>
            </a:pPr>
            <a:r>
              <a:t>Nuestra Propuesta de Valor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61288"/>
            <a:ext cx="2194560" cy="50292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Soluciones llave en mano: implementamos, capacitamos y entregamos listo.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Sin vendor lock-in: modelos abiertos y código fuente.</a:t>
            </a:r>
          </a:p>
          <a:p>
            <a:pPr>
              <a:spcAft>
                <a:spcPts val="800"/>
              </a:spcAft>
              <a:defRPr sz="1700">
                <a:solidFill>
                  <a:srgbClr val="4B5563"/>
                </a:solidFill>
              </a:defRPr>
            </a:pPr>
            <a:r>
              <a:t>▸  Flexibilidad: On-Premise o nube (AWS, Azure, Google Cloud).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¿Listo para dar el siguiente paso?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ABC9C"/>
                </a:solidFill>
              </a:defRPr>
            </a:pPr>
            <a:r>
              <a:t>Hablemos sobre cómo optimizar su negocio.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0175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Iván García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204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E2E8F0"/>
                </a:solidFill>
              </a:defRPr>
            </a:pPr>
            <a:r>
              <a:t>+593 999989522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E2E8F0"/>
                </a:solidFill>
              </a:defRPr>
            </a:pPr>
            <a:r>
              <a:t>ivang@sempitecno.com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E2E8F0"/>
                </a:solidFill>
              </a:defRPr>
            </a:pPr>
            <a:r>
              <a:t>www.sempitecno.com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
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457200"/>
            <a:ext cx="4114800" cy="2743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4114800"/>
            <a:ext cx="2926080" cy="2926080"/>
          </a:xfrm>
          <a:prstGeom prst="ellipse">
            <a:avLst/>
          </a:prstGeom>
          <a:solidFill>
            <a:srgbClr val="14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0" y="1097280"/>
            <a:ext cx="1371600" cy="137160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FFFFF"/>
                </a:solidFill>
                <a:latin typeface="Calibri"/>
              </a:defRPr>
            </a:pPr>
            <a:r>
              <a:t>Transformación Digital</a:t>
            </a:r>
            <a:br/>
            <a:r>
              <a:t>y Soporte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BC9C"/>
                </a:solidFill>
              </a:defRPr>
            </a:pPr>
            <a:r>
              <a:t>Soluciones de IT que impulsan su negocio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FFFFF"/>
                </a:solidFill>
              </a:rPr>
              <a:t>Sempi</a:t>
            </a:r>
            <a:r>
              <a:rPr b="1" sz="2800">
                <a:solidFill>
                  <a:srgbClr val="1ABC9C"/>
                </a:solidFill>
              </a:rPr>
              <a:t>tecno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Sobre Nosotros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▸  Más de 20 años de experiencia en el mercado.</a:t>
            </a:r>
          </a:p>
          <a:p>
            <a:pPr>
              <a:spcAft>
                <a:spcPts val="10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▸  Entregamos el código fuente de soluciones tipo open-source.</a:t>
            </a:r>
          </a:p>
          <a:p>
            <a:pPr>
              <a:spcAft>
                <a:spcPts val="10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▸  Capacitación exhaustiva a su equipo con total transparencia.</a:t>
            </a:r>
          </a:p>
          <a:p>
            <a:pPr>
              <a:spcAft>
                <a:spcPts val="10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▸  Nos asociamos en su crecimiento tecnológico, no solo vendemos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91640"/>
            <a:ext cx="4937760" cy="438912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200" b="1">
                <a:solidFill>
                  <a:srgbClr val="1ABC9C"/>
                </a:solidFill>
              </a:defRPr>
            </a:pPr>
            <a:r>
              <a:t>20+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años impulsando</a:t>
            </a:r>
            <a:br/>
            <a:r>
              <a:t>infraestructura y soporte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Clientes que confían en nosotros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Empresas líderes que respaldan nuestras soluciones.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B2545"/>
                </a:solidFill>
              </a:defRPr>
            </a:pPr>
            <a:r>
              <a:t>Telefónica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14884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B2545"/>
                </a:solidFill>
              </a:defRPr>
            </a:pPr>
            <a:r>
              <a:t>Fybeca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14884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B2545"/>
                </a:solidFill>
              </a:defRPr>
            </a:pPr>
            <a:r>
              <a:t>Veris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033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B2545"/>
                </a:solidFill>
              </a:defRPr>
            </a:pPr>
            <a:r>
              <a:t>Pycca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033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B2545"/>
                </a:solidFill>
              </a:defRPr>
            </a:pPr>
            <a:r>
              <a:t>Médikal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70332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0B2545"/>
                </a:solidFill>
              </a:defRPr>
            </a:pPr>
            <a:r>
              <a:t>Bankers Club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0" y="1188720"/>
            <a:ext cx="1920240" cy="19202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ABC9C"/>
                </a:solidFill>
              </a:defRPr>
            </a:pPr>
            <a:r>
              <a:t>Sección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Plataformas Robustas de Infraestructura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Control, Privacidad y Estabilidad Operativa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Zabbix: Monitoreo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43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zabb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00400"/>
            <a:ext cx="18288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1874519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B2545"/>
                </a:solidFill>
              </a:defRPr>
            </a:pPr>
            <a:r>
              <a:t>El guardián de su 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0604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Monitorea servidores, switches, impresoras y UPS.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Detecta anomalías antes de que afecten a los usuarios.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Notifica incidentes en tiempo real para evitar paradas críticas.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Zabbix: Casos de Uso Prácticos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abb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188720" cy="2971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74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Autorrecuperación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Reinicio automático de servicios críticos sin intervención humana.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62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562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422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Bases de Datos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Monitoreo profundo del rendimiento para respuestas rápidas.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610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470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Dispositivos Físicos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IoT, antenas y cámaras bajo control de disponibilidad.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GLPI: Gestión de Activos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0" y="1783080"/>
            <a:ext cx="2743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200400"/>
            <a:ext cx="165354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874519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B2545"/>
                </a:solidFill>
              </a:defRPr>
            </a:pPr>
            <a:r>
              <a:t>Control total de lo que tiene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Inventario automático de hardware y software.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Gestión de licencias, contratos y garantías.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Administración de proveedores y ciclo de vida del equipo.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GLPI: Casos de Uso Prácticos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l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909447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74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Manejo de Proyectos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Seguimiento de proyectos de IT de inicio a cierre.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62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562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422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Reportes Financieros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Auditorías, depreciación y presupuestos.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610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470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Mesa de Ayuda Base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Incidencias vinculadas a activos afectados.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OTOBO: Mesa de Servicio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43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to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00400"/>
            <a:ext cx="1828799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1874519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B2545"/>
                </a:solidFill>
              </a:defRPr>
            </a:pPr>
            <a:r>
              <a:t>Atención estructurada y eficiente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0604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Workflows totalmente personalizados.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Certificado en mejores prácticas ITIL.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Correos transformados automáticamente en tickets.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OTOBO: Casos de Uso Prácticos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tob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188720" cy="356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74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Seguimiento Veloz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SLA visibles en tiempo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62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562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422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Búsquedas Avanzadas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Historial de soluciones para evitar retrabajo.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610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470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Base de Conocimientos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Portal FAQ de autoservicio.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Issabel: Telefonía IP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0" y="1783080"/>
            <a:ext cx="2743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ssabel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200400"/>
            <a:ext cx="1828799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874519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B2545"/>
                </a:solidFill>
              </a:defRPr>
            </a:pPr>
            <a:r>
              <a:t>Comunicaciones sin límites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Sin costo de licencias por usuario.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Extensiones telefónicas ilimitadas.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IVR y operadora automática incluidos.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Issabel: Casos de Uso Prácticos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ssabel_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1188720" cy="356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74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Grabación de Llamadas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Auditoría y control de calidad.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62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562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422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Grupos de Marcado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Distribución inteligente por departamento.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610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470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Voz a Medida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Menús personalizados y conferencias.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0" y="1188720"/>
            <a:ext cx="1920240" cy="192024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ABC9C"/>
                </a:solidFill>
              </a:defRPr>
            </a:pPr>
            <a:r>
              <a:t>Sección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>
                <a:solidFill>
                  <a:srgbClr val="FFFFFF"/>
                </a:solidFill>
              </a:defRPr>
            </a:pPr>
            <a:r>
              <a:t>Automatización con IA y Soporte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4A3B8"/>
                </a:solidFill>
              </a:defRPr>
            </a:pPr>
            <a:r>
              <a:t>Ingenieros de soporte L1 y L2 disponibles 24/7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Agentes de IA como Ingenieros de Soporte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No son chatbots de respuestas fijas: son ingenieros digitales L1 y L2 integrados a su stack.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86887" y="2926080"/>
            <a:ext cx="6217920" cy="65836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Nivel 3 — Especialistas humanos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Arquitectura, cambios críticos, excepciones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98267" y="2148840"/>
            <a:ext cx="6995160" cy="65836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Nivel 2 — Agente IA avanzado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Diagnóstico profundo, scripts, correlación multi-sistema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9647" y="1371600"/>
            <a:ext cx="7772400" cy="658368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Nivel 1 — Agente IA de primera línea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Triaje, autoservicio, resolución rutinaria 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Los agentes IA absorben el 60–80% del volumen L1/L2, documentan cada interacción y escalan con contexto completo al equipo humano.</a:t>
            </a:r>
          </a:p>
        </p:txBody>
      </p:sp>
      <p:pic>
        <p:nvPicPr>
          <p:cNvPr id="10" name="Picture 9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8463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1280160" cy="41148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NIVEL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Ingeniero de Soporte IA — Nivel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Primera línea digital: disponible 24/7 sin colas de espera.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Atiende como analista de mesa de ayuda: saluda, clasifica y prioriza incidentes.</a:t>
            </a:r>
          </a:p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Resuelve solicitudes rutinarias: reseteo de contraseñas, VPN, impresoras, accesos.</a:t>
            </a:r>
          </a:p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Consulta bases de conocimiento (OTOBO/GLPI) y guía paso a paso al usuario.</a:t>
            </a:r>
          </a:p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Crea tickets automáticos con categoría, activo afectado y pasos ya ejecutados.</a:t>
            </a:r>
          </a:p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Deriva a L2 solo cuando detecta complejidad, riesgo o falta de permisos.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1828800"/>
            <a:ext cx="1600200" cy="13716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ABC9C"/>
                </a:solidFill>
              </a:defRPr>
            </a:pPr>
            <a:r>
              <a:t>&lt; 30 s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tiempo de primera respuesta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828800"/>
            <a:ext cx="1600200" cy="13716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ABC9C"/>
                </a:solidFill>
              </a:defRPr>
            </a:pPr>
            <a:r>
              <a:t>70%+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tickets L1 resueltos sin humano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1828800"/>
            <a:ext cx="1600200" cy="137160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ABC9C"/>
                </a:solidFill>
              </a:defRPr>
            </a:pPr>
            <a:r>
              <a:t>24/7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cobertura continua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B5563"/>
                </a:solidFill>
              </a:defRPr>
            </a:pPr>
            <a:r>
              <a:t>Canales: Web · WhatsApp · Teams · Portal de autoservicio</a:t>
            </a:r>
          </a:p>
        </p:txBody>
      </p:sp>
      <p:pic>
        <p:nvPicPr>
          <p:cNvPr id="13" name="Picture 12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069080"/>
            <a:ext cx="411480" cy="411480"/>
          </a:xfrm>
          <a:prstGeom prst="rect">
            <a:avLst/>
          </a:prstGeom>
        </p:spPr>
      </p:pic>
      <p:pic>
        <p:nvPicPr>
          <p:cNvPr id="14" name="Picture 13" descr="tele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4069080"/>
            <a:ext cx="411480" cy="411480"/>
          </a:xfrm>
          <a:prstGeom prst="rect">
            <a:avLst/>
          </a:prstGeom>
        </p:spPr>
      </p:pic>
      <p:pic>
        <p:nvPicPr>
          <p:cNvPr id="15" name="Picture 14" descr="open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06908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02920"/>
            <a:ext cx="128016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NIVEL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Ingeniero de Soporte IA — Nivel 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Segunda línea digital: diagnóstico técnico, acciones controladas y escalamiento inteligente.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Se conecta a Zabbix: correlaciona alertas, métricas y tendencias antes del reporte humano.</a:t>
            </a:r>
          </a:p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Ejecuta comandos autorizados (SSH/PowerShell/API) para extraer logs y estado de salud.</a:t>
            </a:r>
          </a:p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Aplica runbooks: reinicios de servicios, limpieza de colas, verificación de backups.</a:t>
            </a:r>
          </a:p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Enriquece tickets en GLPI/OTOBO con evidencia técnica, capturas y recomendación de causa raíz.</a:t>
            </a:r>
          </a:p>
          <a:p>
            <a:pPr>
              <a:spcAft>
                <a:spcPts val="1000"/>
              </a:spcAft>
              <a:defRPr sz="1500">
                <a:solidFill>
                  <a:srgbClr val="4B5563"/>
                </a:solidFill>
                <a:latin typeface="Calibri"/>
              </a:defRPr>
            </a:pPr>
            <a:r>
              <a:t>▸  Escala a Nivel 3 con paquete completo: timeline, comandos, impacto y usuarios afectados.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120640" cy="29260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B2545"/>
                </a:solidFill>
              </a:defRPr>
            </a:pPr>
            <a:r>
              <a:t>Integración con su stack</a:t>
            </a:r>
          </a:p>
        </p:txBody>
      </p:sp>
      <p:pic>
        <p:nvPicPr>
          <p:cNvPr id="10" name="Picture 9" descr="zabb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14600"/>
            <a:ext cx="1280160" cy="320040"/>
          </a:xfrm>
          <a:prstGeom prst="rect">
            <a:avLst/>
          </a:prstGeom>
        </p:spPr>
      </p:pic>
      <p:pic>
        <p:nvPicPr>
          <p:cNvPr id="11" name="Picture 10" descr="gl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514600"/>
            <a:ext cx="1074801" cy="594360"/>
          </a:xfrm>
          <a:prstGeom prst="rect">
            <a:avLst/>
          </a:prstGeom>
        </p:spPr>
      </p:pic>
      <p:pic>
        <p:nvPicPr>
          <p:cNvPr id="12" name="Picture 11" descr="otob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514600"/>
            <a:ext cx="128016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L1 vs L2: Roles del Ingeniero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Misma plataforma, distinto alcance operativo y permisos.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2011680" cy="566928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Dimensión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783080"/>
            <a:ext cx="4160520" cy="566928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Ingeniero IA Nivel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783080"/>
            <a:ext cx="4160520" cy="56692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Ingeniero IA Nivel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50008"/>
            <a:ext cx="201168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0B2545"/>
                </a:solidFill>
              </a:defRPr>
            </a:pPr>
            <a:r>
              <a:t>Objetivo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350008"/>
            <a:ext cx="416052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Desvío de volumen y autoservicio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350008"/>
            <a:ext cx="416052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Diagnóstico y remediación técnica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91693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0B2545"/>
                </a:solidFill>
              </a:defRPr>
            </a:pPr>
            <a:r>
              <a:t>Usuario típico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2916936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Colaborador final / cliente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916936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TI interna / operaciones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83864"/>
            <a:ext cx="201168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0B2545"/>
                </a:solidFill>
              </a:defRPr>
            </a:pPr>
            <a:r>
              <a:t>Acciones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3483864"/>
            <a:ext cx="416052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Guías, FAQs, tickets simples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483864"/>
            <a:ext cx="416052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Scripts, APIs, runbooks, monitoreo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05079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0B2545"/>
                </a:solidFill>
              </a:defRPr>
            </a:pPr>
            <a:r>
              <a:t>Integraciones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4050792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OTOBO, chat, correo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050792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Zabbix, GLPI, servidores, CMDB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617720"/>
            <a:ext cx="201168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0B2545"/>
                </a:solidFill>
              </a:defRPr>
            </a:pPr>
            <a:r>
              <a:t>Escalamiento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4617720"/>
            <a:ext cx="416052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→ L2 IA o humano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617720"/>
            <a:ext cx="4160520" cy="566928"/>
          </a:xfrm>
          <a:prstGeom prst="rect">
            <a:avLst/>
          </a:prstGeom>
          <a:solidFill>
            <a:srgbClr val="F3F4F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→ L3 especialista humano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18464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 b="1">
                <a:solidFill>
                  <a:srgbClr val="0B2545"/>
                </a:solidFill>
              </a:defRPr>
            </a:pPr>
            <a:r>
              <a:t>SLA impacto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5184648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Primera respuesta instantánea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5184648"/>
            <a:ext cx="41605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4B5563"/>
                </a:solidFill>
              </a:defRPr>
            </a:pPr>
            <a:r>
              <a:t>MTTR reducido en incidentes medios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Flujo unificado: del usuario al especialista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Trazabilidad completa en cada escalamiento.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06040" cy="2011680"/>
          </a:xfrm>
          <a:prstGeom prst="round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Usuario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Reporta por chat, voz o portal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2880360"/>
            <a:ext cx="32004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2194560"/>
            <a:ext cx="2606040" cy="201168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IA L1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Triaje y resolución rutinaria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80760" y="2880360"/>
            <a:ext cx="32004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194560"/>
            <a:ext cx="2606040" cy="2011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IA L2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Diagnóstico + acciones técnicas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61120" y="2880360"/>
            <a:ext cx="32004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89720" y="2194560"/>
            <a:ext cx="2606040" cy="2011680"/>
          </a:xfrm>
          <a:prstGeom prst="round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Humano L3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Solo casos críticos o cambios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72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▸  Cada paso queda registrado en OTOBO/GLPI con historial de conversación y evidencia.</a:t>
            </a:r>
          </a:p>
          <a:p>
            <a:pPr>
              <a:spcAft>
                <a:spcPts val="10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▸  Supervisores auditan decisiones del agente y ajustan políticas de escalamiento.</a:t>
            </a:r>
          </a:p>
          <a:p>
            <a:pPr>
              <a:spcAft>
                <a:spcPts val="1000"/>
              </a:spcAft>
              <a:defRPr sz="1400">
                <a:solidFill>
                  <a:srgbClr val="4B5563"/>
                </a:solidFill>
                <a:latin typeface="Calibri"/>
              </a:defRPr>
            </a:pPr>
            <a:r>
              <a:t>▸  Aprendizaje continuo: cada ticket cerrado alimenta la base de conocimiento.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Agente Técnico: Integración Avanzada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50292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74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Diagnóstico preventivo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Conexión a Zabbix para fallas antes del reporte humano.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62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562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422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Ejecución de comandos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SSH/PowerShell autorizado para salud de servidores.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610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470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Escalamiento inteligente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Tickets detallados en GLPI/OTOBO automáticamente.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Chatbots para WhatsApp y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23760" y="1783080"/>
            <a:ext cx="2743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2004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1874519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B2545"/>
                </a:solidFill>
              </a:defRPr>
            </a:pPr>
            <a:r>
              <a:t>Atención inmediata en canales favoritos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Integración nativa con WhatsApp, Web y redes sociales.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Conexión directa a CRM o ERP corporativo.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Botones interactivos y listas rápidas.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Chatbots: Casos de Uso Prácticos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hats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50292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74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Venta automatizada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Catálogos y pedidos desde el chat.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62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562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422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Encuestas NPS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Satisfacción post-atención automática.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610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470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Servicios internos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Vacaciones, roles de pago, reseteo de claves.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Agente Virtual Cognitivo de Voz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43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004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1874519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B2545"/>
                </a:solidFill>
              </a:defRPr>
            </a:pPr>
            <a:r>
              <a:t>El futuro de la atención telefónica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0604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Voz humana realista, sin tonos robóticos.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Entiende contexto conversacional fluido.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Analiza y responde en tiempo real.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Voice Bots: Casos de Uso Prácticos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9514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14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374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74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Agendamiento inteligente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Citas médicas, mecánicas o de asesoría.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562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562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422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422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Llamadas salientes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Recordatorios de pago y confirmaciones.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7610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610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0470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470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Encuestas telefónicas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Sondeos de calidad conversacionales.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Chat Multiagente y Multicanal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83080"/>
            <a:ext cx="27432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le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200400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0" y="1874519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0B2545"/>
                </a:solidFill>
              </a:defRPr>
            </a:pPr>
            <a:r>
              <a:t>Centralice sus comunicaciones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0604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Un buzón para WhatsApp, Telegram, Messenger y correo.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Múltiples agentes en el mismo número.</a:t>
            </a:r>
          </a:p>
          <a:p>
            <a:pPr>
              <a:spcAft>
                <a:spcPts val="1000"/>
              </a:spcAft>
              <a:defRPr sz="1700">
                <a:solidFill>
                  <a:srgbClr val="4B5563"/>
                </a:solidFill>
                <a:latin typeface="Calibri"/>
              </a:defRPr>
            </a:pPr>
            <a:r>
              <a:t>▸  Supervisión, auditoría y asignación de chats.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Multicanalidad: Casos de Uso Prácticos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le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11480"/>
            <a:ext cx="50292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14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514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74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Atención masiva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Cientos de clientes sin mezclar historiales.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562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562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422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422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Soporte organizado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Transferencia L1→L2 con contexto intacto.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6107" y="1965960"/>
            <a:ext cx="352044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6107" y="196596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04707" y="2286000"/>
            <a:ext cx="502920" cy="5029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707" y="29260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Métricas de rendimiento</a:t>
            </a:r>
          </a:p>
          <a:p>
            <a:pPr>
              <a:spcBef>
                <a:spcPts val="800"/>
              </a:spcBef>
              <a:defRPr sz="1400">
                <a:solidFill>
                  <a:srgbClr val="4B5563"/>
                </a:solidFill>
              </a:defRPr>
            </a:pPr>
            <a:r>
              <a:t>Tiempos de respuesta por canal y agente.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Beneficios para su Empresa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Calibri"/>
              </a:defRPr>
            </a:pPr>
            <a:r>
              <a:t>Impacto operativo y financiero medible.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520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zabb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40280"/>
            <a:ext cx="9144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880360"/>
            <a:ext cx="30632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Downtime reducido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Monitoreo proactivo + agentes que actúan antes del usuario.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520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p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24028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9160" y="2880360"/>
            <a:ext cx="30632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Resolución instantánea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L1 IA atiende rutina 24/7; L2 acorta MTTR en incidentes medios.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011680"/>
            <a:ext cx="35204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2011680"/>
            <a:ext cx="3520440" cy="731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2880360"/>
            <a:ext cx="30632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B2545"/>
                </a:solidFill>
              </a:defRPr>
            </a:pPr>
            <a:r>
              <a:t>Talento liberado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t>Ingenieros humanos en innovación, no en reseteos de contraseña.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326880" y="320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800">
                <a:solidFill>
                  <a:srgbClr val="0B2545"/>
                </a:solidFill>
                <a:latin typeface="Calibri"/>
              </a:rPr>
              <a:t>Sempi</a:t>
            </a:r>
            <a:r>
              <a:rPr b="1" sz="1800">
                <a:solidFill>
                  <a:srgbClr val="1ABC9C"/>
                </a:solidFill>
                <a:latin typeface="Calibri"/>
              </a:rPr>
              <a:t>tecno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400">
                <a:solidFill>
                  <a:srgbClr val="0B2545"/>
                </a:solidFill>
                <a:latin typeface="Calibri"/>
              </a:defRPr>
            </a:pPr>
            <a:r>
              <a:t>Nuestra Propuesta de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61872"/>
            <a:ext cx="25603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▸  Soluciones llave en mano: implementamos, capacitamos y entregamos listo para usar.</a:t>
            </a:r>
          </a:p>
          <a:p>
            <a:pPr>
              <a:spcAft>
                <a:spcPts val="10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▸  Sin vendor lock-in: modelos abiertos y código fuente disponible.</a:t>
            </a:r>
          </a:p>
          <a:p>
            <a:pPr>
              <a:spcAft>
                <a:spcPts val="1000"/>
              </a:spcAft>
              <a:defRPr sz="1600">
                <a:solidFill>
                  <a:srgbClr val="4B5563"/>
                </a:solidFill>
                <a:latin typeface="Calibri"/>
              </a:defRPr>
            </a:pPr>
            <a:r>
              <a:t>▸  Flexibilidad On-Premise o nube (AWS, Azure, Google Cloud).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286000"/>
            <a:ext cx="1325880" cy="13258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2316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2286000"/>
            <a:ext cx="1325880" cy="13258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z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423160"/>
            <a:ext cx="777240" cy="777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509760" y="2286000"/>
            <a:ext cx="1325880" cy="13258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242316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¿Listo para dar el siguiente paso?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BC9C"/>
                </a:solidFill>
              </a:defRPr>
            </a:pPr>
            <a:r>
              <a:t>Hablemos sobre cómo optimizar su negocio.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029200" cy="2926080"/>
          </a:xfrm>
          <a:prstGeom prst="roundRect">
            <a:avLst/>
          </a:prstGeom>
          <a:solidFill>
            <a:srgbClr val="143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0"/>
          <a:lstStyle/>
          <a:p>
            <a:pPr algn="ctr">
              <a:spcAft>
                <a:spcPts val="1000"/>
              </a:spcAft>
              <a:defRPr b="1" sz="2600">
                <a:solidFill>
                  <a:srgbClr val="FFFFFF"/>
                </a:solidFill>
              </a:defRPr>
            </a:pPr>
            <a:r>
              <a:t>Iván García</a:t>
            </a:r>
          </a:p>
          <a:p>
            <a:pPr>
              <a:spcAft>
                <a:spcPts val="1000"/>
              </a:spcAft>
              <a:defRPr b="0" sz="1800">
                <a:solidFill>
                  <a:srgbClr val="94A3B8"/>
                </a:solidFill>
              </a:defRPr>
            </a:pPr>
            <a:r>
              <a:t>+593 999989522</a:t>
            </a:r>
          </a:p>
          <a:p>
            <a:pPr>
              <a:spcAft>
                <a:spcPts val="1000"/>
              </a:spcAft>
              <a:defRPr b="0" sz="1800">
                <a:solidFill>
                  <a:srgbClr val="94A3B8"/>
                </a:solidFill>
              </a:defRPr>
            </a:pPr>
            <a:r>
              <a:t>ivang@sempitecno.com</a:t>
            </a:r>
          </a:p>
          <a:p>
            <a:pPr>
              <a:spcAft>
                <a:spcPts val="1000"/>
              </a:spcAft>
              <a:defRPr b="0" sz="1800">
                <a:solidFill>
                  <a:srgbClr val="94A3B8"/>
                </a:solidFill>
              </a:defRPr>
            </a:pPr>
            <a:r>
              <a:t>www.sempitecno.com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43200"/>
            <a:ext cx="73152" cy="29260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